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3"/>
    </p:embeddedFont>
    <p:embeddedFont>
      <p:font typeface="Calibri (MS) Italics" charset="1" panose="020F05020202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B5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059417" y="-2207257"/>
            <a:ext cx="18130523" cy="14655803"/>
            <a:chOff x="0" y="0"/>
            <a:chExt cx="24174031" cy="195410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173942" cy="19540982"/>
            </a:xfrm>
            <a:custGeom>
              <a:avLst/>
              <a:gdLst/>
              <a:ahLst/>
              <a:cxnLst/>
              <a:rect r="r" b="b" t="t" l="l"/>
              <a:pathLst>
                <a:path h="19540982" w="24173942">
                  <a:moveTo>
                    <a:pt x="0" y="9770491"/>
                  </a:moveTo>
                  <a:cubicBezTo>
                    <a:pt x="0" y="4374388"/>
                    <a:pt x="5411597" y="0"/>
                    <a:pt x="12086971" y="0"/>
                  </a:cubicBezTo>
                  <a:cubicBezTo>
                    <a:pt x="18762345" y="0"/>
                    <a:pt x="24173942" y="4374388"/>
                    <a:pt x="24173942" y="9770491"/>
                  </a:cubicBezTo>
                  <a:cubicBezTo>
                    <a:pt x="24173942" y="15166595"/>
                    <a:pt x="18762345" y="19540982"/>
                    <a:pt x="12086971" y="19540982"/>
                  </a:cubicBezTo>
                  <a:cubicBezTo>
                    <a:pt x="5411597" y="19540982"/>
                    <a:pt x="0" y="15166594"/>
                    <a:pt x="0" y="977049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48640" y="457200"/>
            <a:ext cx="2011680" cy="1426464"/>
            <a:chOff x="0" y="0"/>
            <a:chExt cx="2682240" cy="1901952"/>
          </a:xfrm>
        </p:grpSpPr>
        <p:sp>
          <p:nvSpPr>
            <p:cNvPr name="Freeform 5" id="5" descr="logo.png"/>
            <p:cNvSpPr/>
            <p:nvPr/>
          </p:nvSpPr>
          <p:spPr>
            <a:xfrm flipH="false" flipV="false" rot="0">
              <a:off x="0" y="0"/>
              <a:ext cx="2682240" cy="1901952"/>
            </a:xfrm>
            <a:custGeom>
              <a:avLst/>
              <a:gdLst/>
              <a:ahLst/>
              <a:cxnLst/>
              <a:rect r="r" b="b" t="t" l="l"/>
              <a:pathLst>
                <a:path h="1901952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1901952"/>
                  </a:lnTo>
                  <a:lnTo>
                    <a:pt x="0" y="19019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t="0" r="-5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3474720"/>
            <a:ext cx="8046720" cy="2743200"/>
            <a:chOff x="0" y="0"/>
            <a:chExt cx="10728960" cy="365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2896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10728960" cy="3800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Mavuko's Foodstuff Business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97280" y="6425565"/>
            <a:ext cx="768096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Founder: Mavuko John-Bosco Augustin</a:t>
            </a: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Kalobeyei, Kenya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142983" y="1578359"/>
            <a:ext cx="5694683" cy="7285739"/>
            <a:chOff x="0" y="0"/>
            <a:chExt cx="7592911" cy="97143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92949" cy="9714357"/>
            </a:xfrm>
            <a:custGeom>
              <a:avLst/>
              <a:gdLst/>
              <a:ahLst/>
              <a:cxnLst/>
              <a:rect r="r" b="b" t="t" l="l"/>
              <a:pathLst>
                <a:path h="9714357" w="7592949">
                  <a:moveTo>
                    <a:pt x="0" y="0"/>
                  </a:moveTo>
                  <a:lnTo>
                    <a:pt x="7592949" y="0"/>
                  </a:lnTo>
                  <a:lnTo>
                    <a:pt x="7592949" y="9714357"/>
                  </a:lnTo>
                  <a:lnTo>
                    <a:pt x="0" y="9714357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704320" y="2194560"/>
            <a:ext cx="4572000" cy="6035040"/>
            <a:chOff x="0" y="0"/>
            <a:chExt cx="6096000" cy="8046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0" cy="8046720"/>
            </a:xfrm>
            <a:custGeom>
              <a:avLst/>
              <a:gdLst/>
              <a:ahLst/>
              <a:cxnLst/>
              <a:rect r="r" b="b" t="t" l="l"/>
              <a:pathLst>
                <a:path h="80467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8046720"/>
                  </a:lnTo>
                  <a:lnTo>
                    <a:pt x="0" y="8046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360" t="0" r="-11936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6096000" cy="8132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Affordable and Accessible Food Essentials for the Community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14400" y="9370695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4503" y="-12697"/>
            <a:ext cx="6426203" cy="10312403"/>
            <a:chOff x="0" y="0"/>
            <a:chExt cx="856827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6830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8568309">
                  <a:moveTo>
                    <a:pt x="0" y="0"/>
                  </a:moveTo>
                  <a:lnTo>
                    <a:pt x="8568309" y="0"/>
                  </a:lnTo>
                  <a:lnTo>
                    <a:pt x="856830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2743200"/>
            <a:ext cx="10241280" cy="2377440"/>
            <a:chOff x="0" y="0"/>
            <a:chExt cx="13655040" cy="3169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55039" cy="3169920"/>
            </a:xfrm>
            <a:custGeom>
              <a:avLst/>
              <a:gdLst/>
              <a:ahLst/>
              <a:cxnLst/>
              <a:rect r="r" b="b" t="t" l="l"/>
              <a:pathLst>
                <a:path h="316992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61925"/>
              <a:ext cx="13655040" cy="3331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97280" y="5337810"/>
            <a:ext cx="987552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Many families need to buy basic food items frequently, but accessing affordable and convenient supplies can be difficult.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13157" y="1071877"/>
            <a:ext cx="6268717" cy="7731757"/>
            <a:chOff x="0" y="0"/>
            <a:chExt cx="8358289" cy="103090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58378" cy="10309098"/>
            </a:xfrm>
            <a:custGeom>
              <a:avLst/>
              <a:gdLst/>
              <a:ahLst/>
              <a:cxnLst/>
              <a:rect r="r" b="b" t="t" l="l"/>
              <a:pathLst>
                <a:path h="10309098" w="8358378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8112506" y="0"/>
                  </a:lnTo>
                  <a:cubicBezTo>
                    <a:pt x="8248269" y="0"/>
                    <a:pt x="8358378" y="110109"/>
                    <a:pt x="8358378" y="245872"/>
                  </a:cubicBezTo>
                  <a:lnTo>
                    <a:pt x="8358378" y="10063226"/>
                  </a:lnTo>
                  <a:cubicBezTo>
                    <a:pt x="8358378" y="10198989"/>
                    <a:pt x="8248269" y="10309098"/>
                    <a:pt x="8112506" y="10309098"/>
                  </a:cubicBezTo>
                  <a:lnTo>
                    <a:pt x="245872" y="10309098"/>
                  </a:lnTo>
                  <a:cubicBezTo>
                    <a:pt x="110109" y="10308971"/>
                    <a:pt x="0" y="10198989"/>
                    <a:pt x="0" y="10063226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795760" y="1554480"/>
            <a:ext cx="5394960" cy="6766560"/>
            <a:chOff x="0" y="0"/>
            <a:chExt cx="7193280" cy="9022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9328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9022080"/>
                  </a:lnTo>
                  <a:lnTo>
                    <a:pt x="0" y="9022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23" t="0" r="-11092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7193280" cy="9079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1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nearby shops with a variety of essential food items</a:t>
              </a:r>
            </a:p>
            <a:p>
              <a:pPr algn="l" marL="627381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Transportation costs to larger markets</a:t>
              </a:r>
            </a:p>
            <a:p>
              <a:pPr algn="l" marL="627381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Fluctuating prices of basic food products</a:t>
              </a:r>
            </a:p>
            <a:p>
              <a:pPr algn="l" marL="627381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access to small quantities families can afford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645920"/>
            <a:chOff x="0" y="0"/>
            <a:chExt cx="2145792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4579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503170"/>
            <a:ext cx="1536192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Mavuko's Foodstuff Business will provide commonly needed food and household essentials within the community.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7280" y="4139565"/>
            <a:ext cx="15361920" cy="427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Sell essential food items at affordable prices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 products in quantities suited to different household budgets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Maintain reliable availability of frequently purchased items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Offer convenient and friendly customer service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4583" y="8491223"/>
            <a:ext cx="1122683" cy="1122683"/>
            <a:chOff x="0" y="0"/>
            <a:chExt cx="1496911" cy="14969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8595360"/>
            <a:ext cx="1097280" cy="1097280"/>
            <a:chOff x="0" y="0"/>
            <a:chExt cx="146304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4630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”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645920"/>
            <a:chOff x="0" y="0"/>
            <a:chExt cx="2145792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4579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Products and Services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411730"/>
            <a:ext cx="1536192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The business will sell products such as: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1877" y="3540757"/>
            <a:ext cx="4988557" cy="1971037"/>
            <a:chOff x="0" y="0"/>
            <a:chExt cx="6651409" cy="26280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51371" cy="2628011"/>
            </a:xfrm>
            <a:custGeom>
              <a:avLst/>
              <a:gdLst/>
              <a:ahLst/>
              <a:cxnLst/>
              <a:rect r="r" b="b" t="t" l="l"/>
              <a:pathLst>
                <a:path h="2628011" w="6651371">
                  <a:moveTo>
                    <a:pt x="0" y="250317"/>
                  </a:moveTo>
                  <a:cubicBezTo>
                    <a:pt x="0" y="112014"/>
                    <a:pt x="112014" y="0"/>
                    <a:pt x="250317" y="0"/>
                  </a:cubicBezTo>
                  <a:lnTo>
                    <a:pt x="6401054" y="0"/>
                  </a:lnTo>
                  <a:cubicBezTo>
                    <a:pt x="6539230" y="0"/>
                    <a:pt x="6651371" y="112014"/>
                    <a:pt x="6651371" y="250317"/>
                  </a:cubicBezTo>
                  <a:lnTo>
                    <a:pt x="6651371" y="2377694"/>
                  </a:lnTo>
                  <a:cubicBezTo>
                    <a:pt x="6651371" y="2515870"/>
                    <a:pt x="6539357" y="2628011"/>
                    <a:pt x="6401054" y="2628011"/>
                  </a:cubicBezTo>
                  <a:lnTo>
                    <a:pt x="250317" y="2628011"/>
                  </a:lnTo>
                  <a:cubicBezTo>
                    <a:pt x="112014" y="2628011"/>
                    <a:pt x="0" y="2515997"/>
                    <a:pt x="0" y="2377694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71600" y="3566160"/>
            <a:ext cx="4389120" cy="1920240"/>
            <a:chOff x="0" y="0"/>
            <a:chExt cx="5852160" cy="2560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585216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Beans and lentils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66837" y="3540757"/>
            <a:ext cx="4988557" cy="1971037"/>
            <a:chOff x="0" y="0"/>
            <a:chExt cx="6651409" cy="26280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51371" cy="2628011"/>
            </a:xfrm>
            <a:custGeom>
              <a:avLst/>
              <a:gdLst/>
              <a:ahLst/>
              <a:cxnLst/>
              <a:rect r="r" b="b" t="t" l="l"/>
              <a:pathLst>
                <a:path h="2628011" w="6651371">
                  <a:moveTo>
                    <a:pt x="0" y="250317"/>
                  </a:moveTo>
                  <a:cubicBezTo>
                    <a:pt x="0" y="112014"/>
                    <a:pt x="112014" y="0"/>
                    <a:pt x="250317" y="0"/>
                  </a:cubicBezTo>
                  <a:lnTo>
                    <a:pt x="6401054" y="0"/>
                  </a:lnTo>
                  <a:cubicBezTo>
                    <a:pt x="6539230" y="0"/>
                    <a:pt x="6651371" y="112014"/>
                    <a:pt x="6651371" y="250317"/>
                  </a:cubicBezTo>
                  <a:lnTo>
                    <a:pt x="6651371" y="2377694"/>
                  </a:lnTo>
                  <a:cubicBezTo>
                    <a:pt x="6651371" y="2515870"/>
                    <a:pt x="6539357" y="2628011"/>
                    <a:pt x="6401054" y="2628011"/>
                  </a:cubicBezTo>
                  <a:lnTo>
                    <a:pt x="250317" y="2628011"/>
                  </a:lnTo>
                  <a:cubicBezTo>
                    <a:pt x="112014" y="2628011"/>
                    <a:pt x="0" y="2515997"/>
                    <a:pt x="0" y="2377694"/>
                  </a:cubicBezTo>
                  <a:close/>
                </a:path>
              </a:pathLst>
            </a:custGeom>
            <a:solidFill>
              <a:srgbClr val="F9F5F7"/>
            </a:solidFill>
            <a:ln w="508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766560" y="3566160"/>
            <a:ext cx="4389120" cy="1920240"/>
            <a:chOff x="0" y="0"/>
            <a:chExt cx="5852160" cy="2560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85216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61797" y="3540757"/>
            <a:ext cx="4988557" cy="1971037"/>
            <a:chOff x="0" y="0"/>
            <a:chExt cx="6651409" cy="262804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51371" cy="2628011"/>
            </a:xfrm>
            <a:custGeom>
              <a:avLst/>
              <a:gdLst/>
              <a:ahLst/>
              <a:cxnLst/>
              <a:rect r="r" b="b" t="t" l="l"/>
              <a:pathLst>
                <a:path h="2628011" w="6651371">
                  <a:moveTo>
                    <a:pt x="0" y="250317"/>
                  </a:moveTo>
                  <a:cubicBezTo>
                    <a:pt x="0" y="112014"/>
                    <a:pt x="112014" y="0"/>
                    <a:pt x="250317" y="0"/>
                  </a:cubicBezTo>
                  <a:lnTo>
                    <a:pt x="6401054" y="0"/>
                  </a:lnTo>
                  <a:cubicBezTo>
                    <a:pt x="6539230" y="0"/>
                    <a:pt x="6651371" y="112014"/>
                    <a:pt x="6651371" y="250317"/>
                  </a:cubicBezTo>
                  <a:lnTo>
                    <a:pt x="6651371" y="2377694"/>
                  </a:lnTo>
                  <a:cubicBezTo>
                    <a:pt x="6651371" y="2515870"/>
                    <a:pt x="6539357" y="2628011"/>
                    <a:pt x="6401054" y="2628011"/>
                  </a:cubicBezTo>
                  <a:lnTo>
                    <a:pt x="250317" y="2628011"/>
                  </a:lnTo>
                  <a:cubicBezTo>
                    <a:pt x="112014" y="2628011"/>
                    <a:pt x="0" y="2515997"/>
                    <a:pt x="0" y="2377694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161520" y="3566160"/>
            <a:ext cx="4389120" cy="1920240"/>
            <a:chOff x="0" y="0"/>
            <a:chExt cx="5852160" cy="2560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85216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Salt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1877" y="5918197"/>
            <a:ext cx="4988557" cy="1971037"/>
            <a:chOff x="0" y="0"/>
            <a:chExt cx="6651409" cy="26280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51371" cy="2628011"/>
            </a:xfrm>
            <a:custGeom>
              <a:avLst/>
              <a:gdLst/>
              <a:ahLst/>
              <a:cxnLst/>
              <a:rect r="r" b="b" t="t" l="l"/>
              <a:pathLst>
                <a:path h="2628011" w="6651371">
                  <a:moveTo>
                    <a:pt x="0" y="250317"/>
                  </a:moveTo>
                  <a:cubicBezTo>
                    <a:pt x="0" y="112014"/>
                    <a:pt x="112014" y="0"/>
                    <a:pt x="250317" y="0"/>
                  </a:cubicBezTo>
                  <a:lnTo>
                    <a:pt x="6401054" y="0"/>
                  </a:lnTo>
                  <a:cubicBezTo>
                    <a:pt x="6539230" y="0"/>
                    <a:pt x="6651371" y="112014"/>
                    <a:pt x="6651371" y="250317"/>
                  </a:cubicBezTo>
                  <a:lnTo>
                    <a:pt x="6651371" y="2377694"/>
                  </a:lnTo>
                  <a:cubicBezTo>
                    <a:pt x="6651371" y="2515870"/>
                    <a:pt x="6539357" y="2628011"/>
                    <a:pt x="6401054" y="2628011"/>
                  </a:cubicBezTo>
                  <a:lnTo>
                    <a:pt x="250317" y="2628011"/>
                  </a:lnTo>
                  <a:cubicBezTo>
                    <a:pt x="112014" y="2628011"/>
                    <a:pt x="0" y="2515997"/>
                    <a:pt x="0" y="2377694"/>
                  </a:cubicBezTo>
                  <a:close/>
                </a:path>
              </a:pathLst>
            </a:custGeom>
            <a:solidFill>
              <a:srgbClr val="F9F5F7"/>
            </a:solidFill>
            <a:ln w="508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" y="5943600"/>
            <a:ext cx="4389120" cy="1920240"/>
            <a:chOff x="0" y="0"/>
            <a:chExt cx="5852160" cy="25603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585216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Biscuits and sweets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66837" y="5918197"/>
            <a:ext cx="4988557" cy="1971037"/>
            <a:chOff x="0" y="0"/>
            <a:chExt cx="6651409" cy="26280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51371" cy="2628011"/>
            </a:xfrm>
            <a:custGeom>
              <a:avLst/>
              <a:gdLst/>
              <a:ahLst/>
              <a:cxnLst/>
              <a:rect r="r" b="b" t="t" l="l"/>
              <a:pathLst>
                <a:path h="2628011" w="6651371">
                  <a:moveTo>
                    <a:pt x="0" y="250317"/>
                  </a:moveTo>
                  <a:cubicBezTo>
                    <a:pt x="0" y="112014"/>
                    <a:pt x="112014" y="0"/>
                    <a:pt x="250317" y="0"/>
                  </a:cubicBezTo>
                  <a:lnTo>
                    <a:pt x="6401054" y="0"/>
                  </a:lnTo>
                  <a:cubicBezTo>
                    <a:pt x="6539230" y="0"/>
                    <a:pt x="6651371" y="112014"/>
                    <a:pt x="6651371" y="250317"/>
                  </a:cubicBezTo>
                  <a:lnTo>
                    <a:pt x="6651371" y="2377694"/>
                  </a:lnTo>
                  <a:cubicBezTo>
                    <a:pt x="6651371" y="2515870"/>
                    <a:pt x="6539357" y="2628011"/>
                    <a:pt x="6401054" y="2628011"/>
                  </a:cubicBezTo>
                  <a:lnTo>
                    <a:pt x="250317" y="2628011"/>
                  </a:lnTo>
                  <a:cubicBezTo>
                    <a:pt x="112014" y="2628011"/>
                    <a:pt x="0" y="2515997"/>
                    <a:pt x="0" y="2377694"/>
                  </a:cubicBezTo>
                  <a:close/>
                </a:path>
              </a:pathLst>
            </a:custGeom>
            <a:solidFill>
              <a:srgbClr val="FFFFFF"/>
            </a:solidFill>
            <a:ln w="508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766560" y="5943600"/>
            <a:ext cx="4389120" cy="1920240"/>
            <a:chOff x="0" y="0"/>
            <a:chExt cx="5852160" cy="2560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585216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 drinks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61797" y="5918197"/>
            <a:ext cx="4988557" cy="1971037"/>
            <a:chOff x="0" y="0"/>
            <a:chExt cx="6651409" cy="262804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51371" cy="2628011"/>
            </a:xfrm>
            <a:custGeom>
              <a:avLst/>
              <a:gdLst/>
              <a:ahLst/>
              <a:cxnLst/>
              <a:rect r="r" b="b" t="t" l="l"/>
              <a:pathLst>
                <a:path h="2628011" w="6651371">
                  <a:moveTo>
                    <a:pt x="0" y="250317"/>
                  </a:moveTo>
                  <a:cubicBezTo>
                    <a:pt x="0" y="112014"/>
                    <a:pt x="112014" y="0"/>
                    <a:pt x="250317" y="0"/>
                  </a:cubicBezTo>
                  <a:lnTo>
                    <a:pt x="6401054" y="0"/>
                  </a:lnTo>
                  <a:cubicBezTo>
                    <a:pt x="6539230" y="0"/>
                    <a:pt x="6651371" y="112014"/>
                    <a:pt x="6651371" y="250317"/>
                  </a:cubicBezTo>
                  <a:lnTo>
                    <a:pt x="6651371" y="2377694"/>
                  </a:lnTo>
                  <a:cubicBezTo>
                    <a:pt x="6651371" y="2515870"/>
                    <a:pt x="6539357" y="2628011"/>
                    <a:pt x="6401054" y="2628011"/>
                  </a:cubicBezTo>
                  <a:lnTo>
                    <a:pt x="250317" y="2628011"/>
                  </a:lnTo>
                  <a:cubicBezTo>
                    <a:pt x="112014" y="2628011"/>
                    <a:pt x="0" y="2515997"/>
                    <a:pt x="0" y="2377694"/>
                  </a:cubicBezTo>
                  <a:close/>
                </a:path>
              </a:pathLst>
            </a:custGeom>
            <a:solidFill>
              <a:srgbClr val="F9F5F7"/>
            </a:solidFill>
            <a:ln w="508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161520" y="5943600"/>
            <a:ext cx="4389120" cy="1920240"/>
            <a:chOff x="0" y="0"/>
            <a:chExt cx="5852160" cy="25603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0" cy="2560320"/>
            </a:xfrm>
            <a:custGeom>
              <a:avLst/>
              <a:gdLst/>
              <a:ahLst/>
              <a:cxnLst/>
              <a:rect r="r" b="b" t="t" l="l"/>
              <a:pathLst>
                <a:path h="25603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585216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9"/>
                </a:lnSpc>
              </a:pPr>
              <a:r>
                <a:rPr lang="en-US" sz="3399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Other commonly requested food items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97280" y="8538210"/>
            <a:ext cx="1499616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i="true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As the business grows, we plan to add household essentials based on customer demand.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093440" cy="1645920"/>
            <a:chOff x="0" y="0"/>
            <a:chExt cx="2145792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4579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Customers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4583" y="2639063"/>
            <a:ext cx="848363" cy="756923"/>
            <a:chOff x="0" y="0"/>
            <a:chExt cx="1131151" cy="1009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106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131062">
                  <a:moveTo>
                    <a:pt x="0" y="168148"/>
                  </a:moveTo>
                  <a:cubicBezTo>
                    <a:pt x="0" y="75311"/>
                    <a:pt x="75311" y="0"/>
                    <a:pt x="168148" y="0"/>
                  </a:cubicBezTo>
                  <a:lnTo>
                    <a:pt x="962914" y="0"/>
                  </a:lnTo>
                  <a:cubicBezTo>
                    <a:pt x="1055751" y="0"/>
                    <a:pt x="1131062" y="75311"/>
                    <a:pt x="1131062" y="168148"/>
                  </a:cubicBezTo>
                  <a:lnTo>
                    <a:pt x="1131062" y="840994"/>
                  </a:lnTo>
                  <a:cubicBezTo>
                    <a:pt x="1131062" y="933831"/>
                    <a:pt x="1055751" y="1009142"/>
                    <a:pt x="962914" y="1009142"/>
                  </a:cubicBezTo>
                  <a:lnTo>
                    <a:pt x="168148" y="1009142"/>
                  </a:lnTo>
                  <a:cubicBezTo>
                    <a:pt x="75311" y="1009269"/>
                    <a:pt x="0" y="933958"/>
                    <a:pt x="0" y="840994"/>
                  </a:cubicBez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377440" y="2560320"/>
            <a:ext cx="13898880" cy="914400"/>
            <a:chOff x="0" y="0"/>
            <a:chExt cx="1853184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318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53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Refugee households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4583" y="3772919"/>
            <a:ext cx="848363" cy="756923"/>
            <a:chOff x="0" y="0"/>
            <a:chExt cx="1131151" cy="10092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106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131062">
                  <a:moveTo>
                    <a:pt x="0" y="168148"/>
                  </a:moveTo>
                  <a:cubicBezTo>
                    <a:pt x="0" y="75311"/>
                    <a:pt x="75311" y="0"/>
                    <a:pt x="168148" y="0"/>
                  </a:cubicBezTo>
                  <a:lnTo>
                    <a:pt x="962914" y="0"/>
                  </a:lnTo>
                  <a:cubicBezTo>
                    <a:pt x="1055751" y="0"/>
                    <a:pt x="1131062" y="75311"/>
                    <a:pt x="1131062" y="168148"/>
                  </a:cubicBezTo>
                  <a:lnTo>
                    <a:pt x="1131062" y="840994"/>
                  </a:lnTo>
                  <a:cubicBezTo>
                    <a:pt x="1131062" y="933831"/>
                    <a:pt x="1055751" y="1009142"/>
                    <a:pt x="962914" y="1009142"/>
                  </a:cubicBezTo>
                  <a:lnTo>
                    <a:pt x="168148" y="1009142"/>
                  </a:lnTo>
                  <a:cubicBezTo>
                    <a:pt x="75311" y="1009269"/>
                    <a:pt x="0" y="933958"/>
                    <a:pt x="0" y="840994"/>
                  </a:cubicBez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377440" y="3694176"/>
            <a:ext cx="13898880" cy="914400"/>
            <a:chOff x="0" y="0"/>
            <a:chExt cx="1853184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5318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853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community members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583" y="4906775"/>
            <a:ext cx="848363" cy="756923"/>
            <a:chOff x="0" y="0"/>
            <a:chExt cx="1131151" cy="10092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106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131062">
                  <a:moveTo>
                    <a:pt x="0" y="168148"/>
                  </a:moveTo>
                  <a:cubicBezTo>
                    <a:pt x="0" y="75311"/>
                    <a:pt x="75311" y="0"/>
                    <a:pt x="168148" y="0"/>
                  </a:cubicBezTo>
                  <a:lnTo>
                    <a:pt x="962914" y="0"/>
                  </a:lnTo>
                  <a:cubicBezTo>
                    <a:pt x="1055751" y="0"/>
                    <a:pt x="1131062" y="75311"/>
                    <a:pt x="1131062" y="168148"/>
                  </a:cubicBezTo>
                  <a:lnTo>
                    <a:pt x="1131062" y="840994"/>
                  </a:lnTo>
                  <a:cubicBezTo>
                    <a:pt x="1131062" y="933831"/>
                    <a:pt x="1055751" y="1009142"/>
                    <a:pt x="962914" y="1009142"/>
                  </a:cubicBezTo>
                  <a:lnTo>
                    <a:pt x="168148" y="1009142"/>
                  </a:lnTo>
                  <a:cubicBezTo>
                    <a:pt x="75311" y="1009269"/>
                    <a:pt x="0" y="933958"/>
                    <a:pt x="0" y="840994"/>
                  </a:cubicBez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377440" y="4828032"/>
            <a:ext cx="13898880" cy="914400"/>
            <a:chOff x="0" y="0"/>
            <a:chExt cx="1853184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5318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853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Parents and caregivers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84583" y="6040631"/>
            <a:ext cx="848363" cy="756923"/>
            <a:chOff x="0" y="0"/>
            <a:chExt cx="1131151" cy="10092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106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131062">
                  <a:moveTo>
                    <a:pt x="0" y="168148"/>
                  </a:moveTo>
                  <a:cubicBezTo>
                    <a:pt x="0" y="75311"/>
                    <a:pt x="75311" y="0"/>
                    <a:pt x="168148" y="0"/>
                  </a:cubicBezTo>
                  <a:lnTo>
                    <a:pt x="962914" y="0"/>
                  </a:lnTo>
                  <a:cubicBezTo>
                    <a:pt x="1055751" y="0"/>
                    <a:pt x="1131062" y="75311"/>
                    <a:pt x="1131062" y="168148"/>
                  </a:cubicBezTo>
                  <a:lnTo>
                    <a:pt x="1131062" y="840994"/>
                  </a:lnTo>
                  <a:cubicBezTo>
                    <a:pt x="1131062" y="933831"/>
                    <a:pt x="1055751" y="1009142"/>
                    <a:pt x="962914" y="1009142"/>
                  </a:cubicBezTo>
                  <a:lnTo>
                    <a:pt x="168148" y="1009142"/>
                  </a:lnTo>
                  <a:cubicBezTo>
                    <a:pt x="75311" y="1009269"/>
                    <a:pt x="0" y="933958"/>
                    <a:pt x="0" y="840994"/>
                  </a:cubicBez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2377440" y="5961888"/>
            <a:ext cx="13898880" cy="914400"/>
            <a:chOff x="0" y="0"/>
            <a:chExt cx="18531840" cy="1219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5318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853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Students and workers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4583" y="7174487"/>
            <a:ext cx="848363" cy="756923"/>
            <a:chOff x="0" y="0"/>
            <a:chExt cx="1131151" cy="10092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1062" cy="1009142"/>
            </a:xfrm>
            <a:custGeom>
              <a:avLst/>
              <a:gdLst/>
              <a:ahLst/>
              <a:cxnLst/>
              <a:rect r="r" b="b" t="t" l="l"/>
              <a:pathLst>
                <a:path h="1009142" w="1131062">
                  <a:moveTo>
                    <a:pt x="0" y="168148"/>
                  </a:moveTo>
                  <a:cubicBezTo>
                    <a:pt x="0" y="75311"/>
                    <a:pt x="75311" y="0"/>
                    <a:pt x="168148" y="0"/>
                  </a:cubicBezTo>
                  <a:lnTo>
                    <a:pt x="962914" y="0"/>
                  </a:lnTo>
                  <a:cubicBezTo>
                    <a:pt x="1055751" y="0"/>
                    <a:pt x="1131062" y="75311"/>
                    <a:pt x="1131062" y="168148"/>
                  </a:cubicBezTo>
                  <a:lnTo>
                    <a:pt x="1131062" y="840994"/>
                  </a:lnTo>
                  <a:cubicBezTo>
                    <a:pt x="1131062" y="933831"/>
                    <a:pt x="1055751" y="1009142"/>
                    <a:pt x="962914" y="1009142"/>
                  </a:cubicBezTo>
                  <a:lnTo>
                    <a:pt x="168148" y="1009142"/>
                  </a:lnTo>
                  <a:cubicBezTo>
                    <a:pt x="75311" y="1009269"/>
                    <a:pt x="0" y="933958"/>
                    <a:pt x="0" y="840994"/>
                  </a:cubicBez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2377440" y="7095744"/>
            <a:ext cx="13898880" cy="914400"/>
            <a:chOff x="0" y="0"/>
            <a:chExt cx="1853184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5318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18531839">
                  <a:moveTo>
                    <a:pt x="0" y="0"/>
                  </a:moveTo>
                  <a:lnTo>
                    <a:pt x="18531839" y="0"/>
                  </a:lnTo>
                  <a:lnTo>
                    <a:pt x="185318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185318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 food vendors and other small businesses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97280" y="8538210"/>
            <a:ext cx="1499616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i="true">
                <a:solidFill>
                  <a:srgbClr val="8F104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Our focus: customers who need affordable food essentials close to where they live.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093440" cy="1645920"/>
            <a:chOff x="0" y="0"/>
            <a:chExt cx="2145792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4579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Opportunity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320290"/>
            <a:ext cx="1536192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Food is a basic necessity, so households regularly purchase essential food products.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4583" y="3644903"/>
            <a:ext cx="15387323" cy="1159259"/>
            <a:chOff x="0" y="0"/>
            <a:chExt cx="20516431" cy="15456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164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20516469">
                  <a:moveTo>
                    <a:pt x="0" y="0"/>
                  </a:moveTo>
                  <a:lnTo>
                    <a:pt x="20516469" y="0"/>
                  </a:lnTo>
                  <a:lnTo>
                    <a:pt x="205164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84583" y="3644903"/>
            <a:ext cx="1159259" cy="1159259"/>
            <a:chOff x="0" y="0"/>
            <a:chExt cx="1545679" cy="15456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57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1545717">
                  <a:moveTo>
                    <a:pt x="0" y="0"/>
                  </a:moveTo>
                  <a:lnTo>
                    <a:pt x="1545717" y="0"/>
                  </a:lnTo>
                  <a:lnTo>
                    <a:pt x="15457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7280" y="3657600"/>
            <a:ext cx="1133856" cy="1133856"/>
            <a:chOff x="0" y="0"/>
            <a:chExt cx="1511808" cy="15118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511808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651760" y="3657600"/>
            <a:ext cx="13533120" cy="1133856"/>
            <a:chOff x="0" y="0"/>
            <a:chExt cx="18044160" cy="15118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0441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563" r="0" b="-18256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8044160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Regular demand for food essentials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4583" y="5016503"/>
            <a:ext cx="15387323" cy="1159259"/>
            <a:chOff x="0" y="0"/>
            <a:chExt cx="20516431" cy="15456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5164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20516469">
                  <a:moveTo>
                    <a:pt x="0" y="0"/>
                  </a:moveTo>
                  <a:lnTo>
                    <a:pt x="20516469" y="0"/>
                  </a:lnTo>
                  <a:lnTo>
                    <a:pt x="205164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84583" y="5016503"/>
            <a:ext cx="1159259" cy="1159259"/>
            <a:chOff x="0" y="0"/>
            <a:chExt cx="1545679" cy="15456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57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1545717">
                  <a:moveTo>
                    <a:pt x="0" y="0"/>
                  </a:moveTo>
                  <a:lnTo>
                    <a:pt x="1545717" y="0"/>
                  </a:lnTo>
                  <a:lnTo>
                    <a:pt x="15457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5029200"/>
            <a:ext cx="1133856" cy="1133856"/>
            <a:chOff x="0" y="0"/>
            <a:chExt cx="1511808" cy="1511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511808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51760" y="5029200"/>
            <a:ext cx="13533120" cy="1133856"/>
            <a:chOff x="0" y="0"/>
            <a:chExt cx="18044160" cy="15118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0441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563" r="0" b="-18256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8044160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large community of households in and around Kalobeyei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4583" y="6388103"/>
            <a:ext cx="15387323" cy="1159259"/>
            <a:chOff x="0" y="0"/>
            <a:chExt cx="20516431" cy="15456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5164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20516469">
                  <a:moveTo>
                    <a:pt x="0" y="0"/>
                  </a:moveTo>
                  <a:lnTo>
                    <a:pt x="20516469" y="0"/>
                  </a:lnTo>
                  <a:lnTo>
                    <a:pt x="205164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84583" y="6388103"/>
            <a:ext cx="1159259" cy="1159259"/>
            <a:chOff x="0" y="0"/>
            <a:chExt cx="1545679" cy="15456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457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1545717">
                  <a:moveTo>
                    <a:pt x="0" y="0"/>
                  </a:moveTo>
                  <a:lnTo>
                    <a:pt x="1545717" y="0"/>
                  </a:lnTo>
                  <a:lnTo>
                    <a:pt x="15457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97280" y="6400800"/>
            <a:ext cx="1133856" cy="1133856"/>
            <a:chOff x="0" y="0"/>
            <a:chExt cx="1511808" cy="15118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1511808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651760" y="6400800"/>
            <a:ext cx="13533120" cy="1133856"/>
            <a:chOff x="0" y="0"/>
            <a:chExt cx="18044160" cy="15118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0441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563" r="0" b="-18256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8044160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who prefer convenient local shopping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84583" y="7759703"/>
            <a:ext cx="15387323" cy="1159259"/>
            <a:chOff x="0" y="0"/>
            <a:chExt cx="20516431" cy="154567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516469" cy="1545717"/>
            </a:xfrm>
            <a:custGeom>
              <a:avLst/>
              <a:gdLst/>
              <a:ahLst/>
              <a:cxnLst/>
              <a:rect r="r" b="b" t="t" l="l"/>
              <a:pathLst>
                <a:path h="1545717" w="20516469">
                  <a:moveTo>
                    <a:pt x="0" y="0"/>
                  </a:moveTo>
                  <a:lnTo>
                    <a:pt x="20516469" y="0"/>
                  </a:lnTo>
                  <a:lnTo>
                    <a:pt x="20516469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84583" y="7759703"/>
            <a:ext cx="1159259" cy="1159259"/>
            <a:chOff x="0" y="0"/>
            <a:chExt cx="1545679" cy="15456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45717" cy="1545717"/>
            </a:xfrm>
            <a:custGeom>
              <a:avLst/>
              <a:gdLst/>
              <a:ahLst/>
              <a:cxnLst/>
              <a:rect r="r" b="b" t="t" l="l"/>
              <a:pathLst>
                <a:path h="1545717" w="1545717">
                  <a:moveTo>
                    <a:pt x="0" y="0"/>
                  </a:moveTo>
                  <a:lnTo>
                    <a:pt x="1545717" y="0"/>
                  </a:lnTo>
                  <a:lnTo>
                    <a:pt x="1545717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97280" y="7772400"/>
            <a:ext cx="1133856" cy="1133856"/>
            <a:chOff x="0" y="0"/>
            <a:chExt cx="1511808" cy="15118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1180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511808">
                  <a:moveTo>
                    <a:pt x="0" y="0"/>
                  </a:moveTo>
                  <a:lnTo>
                    <a:pt x="1511808" y="0"/>
                  </a:lnTo>
                  <a:lnTo>
                    <a:pt x="1511808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1511808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651760" y="7772400"/>
            <a:ext cx="13533120" cy="1133856"/>
            <a:chOff x="0" y="0"/>
            <a:chExt cx="18044160" cy="15118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044161" cy="1511808"/>
            </a:xfrm>
            <a:custGeom>
              <a:avLst/>
              <a:gdLst/>
              <a:ahLst/>
              <a:cxnLst/>
              <a:rect r="r" b="b" t="t" l="l"/>
              <a:pathLst>
                <a:path h="1511808" w="18044161">
                  <a:moveTo>
                    <a:pt x="0" y="0"/>
                  </a:moveTo>
                  <a:lnTo>
                    <a:pt x="18044161" y="0"/>
                  </a:lnTo>
                  <a:lnTo>
                    <a:pt x="18044161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563" r="0" b="-1825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18044160" cy="1578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Room to expand the product range as the business grows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039863"/>
            <a:ext cx="18313403" cy="1259843"/>
            <a:chOff x="0" y="0"/>
            <a:chExt cx="24417871" cy="1679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79829"/>
            </a:xfrm>
            <a:custGeom>
              <a:avLst/>
              <a:gdLst/>
              <a:ahLst/>
              <a:cxnLst/>
              <a:rect r="r" b="b" t="t" l="l"/>
              <a:pathLst>
                <a:path h="16798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79829"/>
                  </a:lnTo>
                  <a:lnTo>
                    <a:pt x="0" y="1679829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548640"/>
            <a:ext cx="16093440" cy="1645920"/>
            <a:chOff x="0" y="0"/>
            <a:chExt cx="2145792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214579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Competition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97280" y="2320290"/>
            <a:ext cx="1536192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Customers currently buy food from: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4583" y="3462023"/>
            <a:ext cx="16118843" cy="1305563"/>
            <a:chOff x="0" y="0"/>
            <a:chExt cx="21491791" cy="1740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918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4583" y="3462023"/>
            <a:ext cx="244859" cy="1305563"/>
            <a:chOff x="0" y="0"/>
            <a:chExt cx="326479" cy="17407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6517" cy="1740789"/>
            </a:xfrm>
            <a:custGeom>
              <a:avLst/>
              <a:gdLst/>
              <a:ahLst/>
              <a:cxnLst/>
              <a:rect r="r" b="b" t="t" l="l"/>
              <a:pathLst>
                <a:path h="1740789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7360" y="3474720"/>
            <a:ext cx="14996160" cy="1280160"/>
            <a:chOff x="0" y="0"/>
            <a:chExt cx="19994880" cy="1706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94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99948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 local shops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583" y="5107943"/>
            <a:ext cx="16118843" cy="1305563"/>
            <a:chOff x="0" y="0"/>
            <a:chExt cx="21491791" cy="17407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918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4583" y="5107943"/>
            <a:ext cx="244859" cy="1305563"/>
            <a:chOff x="0" y="0"/>
            <a:chExt cx="326479" cy="17407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6517" cy="1740789"/>
            </a:xfrm>
            <a:custGeom>
              <a:avLst/>
              <a:gdLst/>
              <a:ahLst/>
              <a:cxnLst/>
              <a:rect r="r" b="b" t="t" l="l"/>
              <a:pathLst>
                <a:path h="1740789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737360" y="5120640"/>
            <a:ext cx="14996160" cy="1280160"/>
            <a:chOff x="0" y="0"/>
            <a:chExt cx="19994880" cy="17068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94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199948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 vendors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4583" y="6753863"/>
            <a:ext cx="16118843" cy="1305563"/>
            <a:chOff x="0" y="0"/>
            <a:chExt cx="21491791" cy="17407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491829" cy="1740789"/>
            </a:xfrm>
            <a:custGeom>
              <a:avLst/>
              <a:gdLst/>
              <a:ahLst/>
              <a:cxnLst/>
              <a:rect r="r" b="b" t="t" l="l"/>
              <a:pathLst>
                <a:path h="1740789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84583" y="6753863"/>
            <a:ext cx="244859" cy="1305563"/>
            <a:chOff x="0" y="0"/>
            <a:chExt cx="326479" cy="17407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1740789"/>
            </a:xfrm>
            <a:custGeom>
              <a:avLst/>
              <a:gdLst/>
              <a:ahLst/>
              <a:cxnLst/>
              <a:rect r="r" b="b" t="t" l="l"/>
              <a:pathLst>
                <a:path h="1740789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740789"/>
                  </a:lnTo>
                  <a:lnTo>
                    <a:pt x="0" y="1740789"/>
                  </a:ln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37360" y="6766560"/>
            <a:ext cx="14996160" cy="1280160"/>
            <a:chOff x="0" y="0"/>
            <a:chExt cx="19994880" cy="1706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94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1999488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Larger shops and markets outside the immediate area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9052560"/>
            <a:ext cx="14996160" cy="1234440"/>
            <a:chOff x="0" y="0"/>
            <a:chExt cx="19994880" cy="16459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994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07" r="0" b="-18670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999488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 compete on convenience, reliable stock, customer service, and affordable purchasing options.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909067" cy="10312403"/>
            <a:chOff x="0" y="0"/>
            <a:chExt cx="254542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546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2545461">
                  <a:moveTo>
                    <a:pt x="0" y="0"/>
                  </a:moveTo>
                  <a:lnTo>
                    <a:pt x="2545461" y="0"/>
                  </a:lnTo>
                  <a:lnTo>
                    <a:pt x="254546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5391540">
            <a:off x="-4214384" y="5138738"/>
            <a:ext cx="1031243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720">
            <a:off x="-12783" y="930488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720">
            <a:off x="-12783" y="1865738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720">
            <a:off x="-12783" y="2800979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720">
            <a:off x="-12783" y="3736229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5720">
            <a:off x="-12783" y="4671479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5720">
            <a:off x="-12783" y="5606729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5720">
            <a:off x="-12783" y="6541980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45720">
            <a:off x="-12783" y="7477220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45720">
            <a:off x="-12783" y="8412470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45720">
            <a:off x="-12783" y="9347721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560320" y="640080"/>
            <a:ext cx="14630400" cy="1645920"/>
            <a:chOff x="0" y="0"/>
            <a:chExt cx="1950720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950720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Competitive Advantage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560320" y="2676525"/>
            <a:ext cx="14630400" cy="628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Understanding the needs of the local community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Keeping commonly requested products available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Selling in quantities suited to different customers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Building good relationships with customers</a:t>
            </a:r>
          </a:p>
          <a:p>
            <a:pPr algn="l" marL="868680" indent="-43434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Reinvesting profits to gradually widen the product range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093440" cy="1645920"/>
            <a:chOff x="0" y="0"/>
            <a:chExt cx="2145792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4579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Model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228850"/>
            <a:ext cx="1536192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We buy food products in larger quantities and sell to customers at a suitable retail price.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84583" y="3644903"/>
            <a:ext cx="4963163" cy="1762763"/>
            <a:chOff x="0" y="0"/>
            <a:chExt cx="6617551" cy="2350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17589" cy="2350389"/>
            </a:xfrm>
            <a:custGeom>
              <a:avLst/>
              <a:gdLst/>
              <a:ahLst/>
              <a:cxnLst/>
              <a:rect r="r" b="b" t="t" l="l"/>
              <a:pathLst>
                <a:path h="2350389" w="6617589">
                  <a:moveTo>
                    <a:pt x="0" y="391795"/>
                  </a:moveTo>
                  <a:cubicBezTo>
                    <a:pt x="0" y="175387"/>
                    <a:pt x="175387" y="0"/>
                    <a:pt x="391795" y="0"/>
                  </a:cubicBezTo>
                  <a:lnTo>
                    <a:pt x="6225794" y="0"/>
                  </a:lnTo>
                  <a:cubicBezTo>
                    <a:pt x="6442202" y="0"/>
                    <a:pt x="6617589" y="175387"/>
                    <a:pt x="6617589" y="391795"/>
                  </a:cubicBezTo>
                  <a:lnTo>
                    <a:pt x="6617589" y="1958594"/>
                  </a:lnTo>
                  <a:cubicBezTo>
                    <a:pt x="6617589" y="2175002"/>
                    <a:pt x="6442202" y="2350389"/>
                    <a:pt x="6225794" y="2350389"/>
                  </a:cubicBezTo>
                  <a:lnTo>
                    <a:pt x="391795" y="2350389"/>
                  </a:lnTo>
                  <a:cubicBezTo>
                    <a:pt x="175387" y="2350389"/>
                    <a:pt x="0" y="2175002"/>
                    <a:pt x="0" y="1958594"/>
                  </a:cubicBez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71600" y="3657600"/>
            <a:ext cx="4389120" cy="1737360"/>
            <a:chOff x="0" y="0"/>
            <a:chExt cx="5852160" cy="2316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85216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Buy in larger quantities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35040" y="3657600"/>
            <a:ext cx="640080" cy="1737360"/>
            <a:chOff x="0" y="0"/>
            <a:chExt cx="853440" cy="2316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34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252" t="0" r="-29825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53440" cy="2383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➜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2423" y="3644903"/>
            <a:ext cx="4963163" cy="1762763"/>
            <a:chOff x="0" y="0"/>
            <a:chExt cx="6617551" cy="23503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17589" cy="2350389"/>
            </a:xfrm>
            <a:custGeom>
              <a:avLst/>
              <a:gdLst/>
              <a:ahLst/>
              <a:cxnLst/>
              <a:rect r="r" b="b" t="t" l="l"/>
              <a:pathLst>
                <a:path h="2350389" w="6617589">
                  <a:moveTo>
                    <a:pt x="0" y="391795"/>
                  </a:moveTo>
                  <a:cubicBezTo>
                    <a:pt x="0" y="175387"/>
                    <a:pt x="175387" y="0"/>
                    <a:pt x="391795" y="0"/>
                  </a:cubicBezTo>
                  <a:lnTo>
                    <a:pt x="6225794" y="0"/>
                  </a:lnTo>
                  <a:cubicBezTo>
                    <a:pt x="6442202" y="0"/>
                    <a:pt x="6617589" y="175387"/>
                    <a:pt x="6617589" y="391795"/>
                  </a:cubicBezTo>
                  <a:lnTo>
                    <a:pt x="6617589" y="1958594"/>
                  </a:lnTo>
                  <a:cubicBezTo>
                    <a:pt x="6617589" y="2175002"/>
                    <a:pt x="6442202" y="2350389"/>
                    <a:pt x="6225794" y="2350389"/>
                  </a:cubicBezTo>
                  <a:lnTo>
                    <a:pt x="391795" y="2350389"/>
                  </a:lnTo>
                  <a:cubicBezTo>
                    <a:pt x="175387" y="2350389"/>
                    <a:pt x="0" y="2175002"/>
                    <a:pt x="0" y="1958594"/>
                  </a:cubicBez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949440" y="3657600"/>
            <a:ext cx="4389120" cy="1737360"/>
            <a:chOff x="0" y="0"/>
            <a:chExt cx="5852160" cy="2316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85216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Sell at a suitable retail price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12880" y="3657600"/>
            <a:ext cx="640080" cy="1737360"/>
            <a:chOff x="0" y="0"/>
            <a:chExt cx="853440" cy="2316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34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8252" t="0" r="-29825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853440" cy="2383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➜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40263" y="3644903"/>
            <a:ext cx="4963163" cy="1762763"/>
            <a:chOff x="0" y="0"/>
            <a:chExt cx="6617551" cy="23503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17589" cy="2350389"/>
            </a:xfrm>
            <a:custGeom>
              <a:avLst/>
              <a:gdLst/>
              <a:ahLst/>
              <a:cxnLst/>
              <a:rect r="r" b="b" t="t" l="l"/>
              <a:pathLst>
                <a:path h="2350389" w="6617589">
                  <a:moveTo>
                    <a:pt x="0" y="391795"/>
                  </a:moveTo>
                  <a:cubicBezTo>
                    <a:pt x="0" y="175387"/>
                    <a:pt x="175387" y="0"/>
                    <a:pt x="391795" y="0"/>
                  </a:cubicBezTo>
                  <a:lnTo>
                    <a:pt x="6225794" y="0"/>
                  </a:lnTo>
                  <a:cubicBezTo>
                    <a:pt x="6442202" y="0"/>
                    <a:pt x="6617589" y="175387"/>
                    <a:pt x="6617589" y="391795"/>
                  </a:cubicBezTo>
                  <a:lnTo>
                    <a:pt x="6617589" y="1958594"/>
                  </a:lnTo>
                  <a:cubicBezTo>
                    <a:pt x="6617589" y="2175002"/>
                    <a:pt x="6442202" y="2350389"/>
                    <a:pt x="6225794" y="2350389"/>
                  </a:cubicBezTo>
                  <a:lnTo>
                    <a:pt x="391795" y="2350389"/>
                  </a:lnTo>
                  <a:cubicBezTo>
                    <a:pt x="175387" y="2350389"/>
                    <a:pt x="0" y="2175002"/>
                    <a:pt x="0" y="1958594"/>
                  </a:cubicBez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527280" y="3657600"/>
            <a:ext cx="4389120" cy="1737360"/>
            <a:chOff x="0" y="0"/>
            <a:chExt cx="5852160" cy="2316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5216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6" t="0" r="-78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85216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Reinvest profits in stock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97280" y="5886450"/>
            <a:ext cx="1463040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Revenue will come from: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7280" y="6709410"/>
            <a:ext cx="15361920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sales of food products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Sales of products in different quantities</a:t>
            </a:r>
          </a:p>
          <a:p>
            <a:pPr algn="l" marL="772161" indent="-38608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Future expansion into additional household essentials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9039863"/>
            <a:ext cx="18313403" cy="1259843"/>
            <a:chOff x="0" y="0"/>
            <a:chExt cx="24417871" cy="1679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1679829"/>
            </a:xfrm>
            <a:custGeom>
              <a:avLst/>
              <a:gdLst/>
              <a:ahLst/>
              <a:cxnLst/>
              <a:rect r="r" b="b" t="t" l="l"/>
              <a:pathLst>
                <a:path h="167982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1679829"/>
                  </a:lnTo>
                  <a:lnTo>
                    <a:pt x="0" y="1679829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548640"/>
            <a:ext cx="16093440" cy="1645920"/>
            <a:chOff x="0" y="0"/>
            <a:chExt cx="2145792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214579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Traction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97280" y="2228850"/>
            <a:ext cx="15361920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The idea is built on practical experience selling food and household items in the community.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84583" y="3553463"/>
            <a:ext cx="16118843" cy="1086107"/>
            <a:chOff x="0" y="0"/>
            <a:chExt cx="21491791" cy="14481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91829" cy="1448181"/>
            </a:xfrm>
            <a:custGeom>
              <a:avLst/>
              <a:gdLst/>
              <a:ahLst/>
              <a:cxnLst/>
              <a:rect r="r" b="b" t="t" l="l"/>
              <a:pathLst>
                <a:path h="144818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84583" y="3553463"/>
            <a:ext cx="244859" cy="1086107"/>
            <a:chOff x="0" y="0"/>
            <a:chExt cx="326479" cy="14481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6517" cy="1448181"/>
            </a:xfrm>
            <a:custGeom>
              <a:avLst/>
              <a:gdLst/>
              <a:ahLst/>
              <a:cxnLst/>
              <a:rect r="r" b="b" t="t" l="l"/>
              <a:pathLst>
                <a:path h="1448181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7360" y="3566160"/>
            <a:ext cx="14996160" cy="1060704"/>
            <a:chOff x="0" y="0"/>
            <a:chExt cx="19994880" cy="14142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994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78" r="0" b="-22547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1999488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8F1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Experience selling basic food items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583" y="4833623"/>
            <a:ext cx="16118843" cy="1086107"/>
            <a:chOff x="0" y="0"/>
            <a:chExt cx="21491791" cy="14481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491829" cy="1448181"/>
            </a:xfrm>
            <a:custGeom>
              <a:avLst/>
              <a:gdLst/>
              <a:ahLst/>
              <a:cxnLst/>
              <a:rect r="r" b="b" t="t" l="l"/>
              <a:pathLst>
                <a:path h="144818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84583" y="4833623"/>
            <a:ext cx="244859" cy="1086107"/>
            <a:chOff x="0" y="0"/>
            <a:chExt cx="326479" cy="14481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6517" cy="1448181"/>
            </a:xfrm>
            <a:custGeom>
              <a:avLst/>
              <a:gdLst/>
              <a:ahLst/>
              <a:cxnLst/>
              <a:rect r="r" b="b" t="t" l="l"/>
              <a:pathLst>
                <a:path h="1448181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737360" y="4846320"/>
            <a:ext cx="14996160" cy="1060704"/>
            <a:chOff x="0" y="0"/>
            <a:chExt cx="19994880" cy="1414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94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78" r="0" b="-22547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999488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8F1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knowledge of customer needs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4583" y="6113783"/>
            <a:ext cx="16118843" cy="1086107"/>
            <a:chOff x="0" y="0"/>
            <a:chExt cx="21491791" cy="14481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491829" cy="1448181"/>
            </a:xfrm>
            <a:custGeom>
              <a:avLst/>
              <a:gdLst/>
              <a:ahLst/>
              <a:cxnLst/>
              <a:rect r="r" b="b" t="t" l="l"/>
              <a:pathLst>
                <a:path h="144818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84583" y="6113783"/>
            <a:ext cx="244859" cy="1086107"/>
            <a:chOff x="0" y="0"/>
            <a:chExt cx="326479" cy="14481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6517" cy="1448181"/>
            </a:xfrm>
            <a:custGeom>
              <a:avLst/>
              <a:gdLst/>
              <a:ahLst/>
              <a:cxnLst/>
              <a:rect r="r" b="b" t="t" l="l"/>
              <a:pathLst>
                <a:path h="1448181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F69C0"/>
            </a:solidFill>
            <a:ln w="25400" cap="sq">
              <a:solidFill>
                <a:srgbClr val="FF69C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737360" y="6126480"/>
            <a:ext cx="14996160" cy="1060704"/>
            <a:chOff x="0" y="0"/>
            <a:chExt cx="19994880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9994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78" r="0" b="-2254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999488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8F1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Relationships with community customers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4583" y="7393943"/>
            <a:ext cx="16118843" cy="1086107"/>
            <a:chOff x="0" y="0"/>
            <a:chExt cx="21491791" cy="14481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491829" cy="1448181"/>
            </a:xfrm>
            <a:custGeom>
              <a:avLst/>
              <a:gdLst/>
              <a:ahLst/>
              <a:cxnLst/>
              <a:rect r="r" b="b" t="t" l="l"/>
              <a:pathLst>
                <a:path h="1448181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84583" y="7393943"/>
            <a:ext cx="244859" cy="1086107"/>
            <a:chOff x="0" y="0"/>
            <a:chExt cx="326479" cy="144814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6517" cy="1448181"/>
            </a:xfrm>
            <a:custGeom>
              <a:avLst/>
              <a:gdLst/>
              <a:ahLst/>
              <a:cxnLst/>
              <a:rect r="r" b="b" t="t" l="l"/>
              <a:pathLst>
                <a:path h="1448181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448181"/>
                  </a:lnTo>
                  <a:lnTo>
                    <a:pt x="0" y="1448181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737360" y="7406640"/>
            <a:ext cx="14996160" cy="1060704"/>
            <a:chOff x="0" y="0"/>
            <a:chExt cx="19994880" cy="141427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994880" cy="1414272"/>
            </a:xfrm>
            <a:custGeom>
              <a:avLst/>
              <a:gdLst/>
              <a:ahLst/>
              <a:cxnLst/>
              <a:rect r="r" b="b" t="t" l="l"/>
              <a:pathLst>
                <a:path h="141427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78" r="0" b="-22547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66675"/>
              <a:ext cx="19994880" cy="14809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8F1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Understanding of commonly purchased products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97280" y="9052560"/>
            <a:ext cx="14996160" cy="1234440"/>
            <a:chOff x="0" y="0"/>
            <a:chExt cx="19994880" cy="1645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994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07" r="0" b="-18670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199948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step: increase stock and expand the business.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548640"/>
            <a:ext cx="16093440" cy="1645920"/>
            <a:chOff x="0" y="0"/>
            <a:chExt cx="2145792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45792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Ask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320290"/>
            <a:ext cx="15361920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We are seeking financial support to strengthen and expand the foodstuff business. Funds will be used for: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7280" y="3773805"/>
            <a:ext cx="15361920" cy="390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Purchasing additional food stock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Increasing the variety of products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Improving business storage and display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Supporting transportation of stock</a:t>
            </a:r>
          </a:p>
          <a:p>
            <a:pPr algn="l" marL="820419" indent="-410210" lvl="1">
              <a:lnSpc>
                <a:spcPts val="4079"/>
              </a:lnSpc>
              <a:buFont typeface="Arial"/>
              <a:buChar char="•"/>
            </a:pPr>
            <a:r>
              <a:rPr lang="en-US" sz="3399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Providing working capital for business growth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4583" y="7851143"/>
            <a:ext cx="16118843" cy="1488443"/>
            <a:chOff x="0" y="0"/>
            <a:chExt cx="21491791" cy="19845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91829" cy="1984629"/>
            </a:xfrm>
            <a:custGeom>
              <a:avLst/>
              <a:gdLst/>
              <a:ahLst/>
              <a:cxnLst/>
              <a:rect r="r" b="b" t="t" l="l"/>
              <a:pathLst>
                <a:path h="1984629" w="21491829">
                  <a:moveTo>
                    <a:pt x="0" y="0"/>
                  </a:moveTo>
                  <a:lnTo>
                    <a:pt x="21491829" y="0"/>
                  </a:lnTo>
                  <a:lnTo>
                    <a:pt x="21491829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F9F5F7"/>
            </a:solidFill>
            <a:ln w="25400" cap="sq">
              <a:solidFill>
                <a:srgbClr val="F9F5F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84583" y="7851143"/>
            <a:ext cx="244859" cy="1488443"/>
            <a:chOff x="0" y="0"/>
            <a:chExt cx="326479" cy="19845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6517" cy="1984629"/>
            </a:xfrm>
            <a:custGeom>
              <a:avLst/>
              <a:gdLst/>
              <a:ahLst/>
              <a:cxnLst/>
              <a:rect r="r" b="b" t="t" l="l"/>
              <a:pathLst>
                <a:path h="1984629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1984629"/>
                  </a:lnTo>
                  <a:lnTo>
                    <a:pt x="0" y="1984629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737360" y="7863840"/>
            <a:ext cx="15179040" cy="1463040"/>
            <a:chOff x="0" y="0"/>
            <a:chExt cx="20238720" cy="1950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238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0238720">
                  <a:moveTo>
                    <a:pt x="0" y="0"/>
                  </a:moveTo>
                  <a:lnTo>
                    <a:pt x="20238720" y="0"/>
                  </a:lnTo>
                  <a:lnTo>
                    <a:pt x="202387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157" r="0" b="-15215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0238720" cy="2017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8F104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goal: a sustainable foodstuff business providing affordable, accessible essentials and a reliable source of income.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909067" cy="10312403"/>
            <a:chOff x="0" y="0"/>
            <a:chExt cx="254542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5461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2545461">
                  <a:moveTo>
                    <a:pt x="0" y="0"/>
                  </a:moveTo>
                  <a:lnTo>
                    <a:pt x="2545461" y="0"/>
                  </a:lnTo>
                  <a:lnTo>
                    <a:pt x="2545461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F1040"/>
            </a:solidFill>
            <a:ln w="25400" cap="sq">
              <a:solidFill>
                <a:srgbClr val="8F1040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5391540">
            <a:off x="-4214384" y="5138738"/>
            <a:ext cx="10312432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45720">
            <a:off x="-12783" y="930488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45720">
            <a:off x="-12783" y="1865738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45720">
            <a:off x="-12783" y="2800979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45720">
            <a:off x="-12783" y="3736229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45720">
            <a:off x="-12783" y="4671479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45720">
            <a:off x="-12783" y="5606729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45720">
            <a:off x="-12783" y="6541980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45720">
            <a:off x="-12783" y="7477220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45720">
            <a:off x="-12783" y="8412470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45720">
            <a:off x="-12783" y="9347721"/>
            <a:ext cx="1909229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560320" y="640080"/>
            <a:ext cx="14630400" cy="1645920"/>
            <a:chOff x="0" y="0"/>
            <a:chExt cx="1950720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33350"/>
              <a:ext cx="1950720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DB5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13383" y="3187703"/>
            <a:ext cx="4048763" cy="4048763"/>
            <a:chOff x="0" y="0"/>
            <a:chExt cx="5398351" cy="5398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8389" cy="5398389"/>
            </a:xfrm>
            <a:custGeom>
              <a:avLst/>
              <a:gdLst/>
              <a:ahLst/>
              <a:cxnLst/>
              <a:rect r="r" b="b" t="t" l="l"/>
              <a:pathLst>
                <a:path h="5398389" w="5398389">
                  <a:moveTo>
                    <a:pt x="0" y="2699131"/>
                  </a:moveTo>
                  <a:cubicBezTo>
                    <a:pt x="0" y="1208405"/>
                    <a:pt x="1208405" y="0"/>
                    <a:pt x="2699131" y="0"/>
                  </a:cubicBezTo>
                  <a:cubicBezTo>
                    <a:pt x="4189857" y="0"/>
                    <a:pt x="5398389" y="1208405"/>
                    <a:pt x="5398389" y="2699131"/>
                  </a:cubicBezTo>
                  <a:cubicBezTo>
                    <a:pt x="5398389" y="4189857"/>
                    <a:pt x="4189857" y="5398389"/>
                    <a:pt x="2699131" y="5398389"/>
                  </a:cubicBezTo>
                  <a:cubicBezTo>
                    <a:pt x="1208405" y="5398389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0DB5BE"/>
            </a:solidFill>
            <a:ln w="25400" cap="sq">
              <a:solidFill>
                <a:srgbClr val="0DB5B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926080" y="3200400"/>
            <a:ext cx="4023360" cy="4023360"/>
            <a:chOff x="0" y="0"/>
            <a:chExt cx="5364480" cy="536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64480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0"/>
                  </a:lnTo>
                  <a:lnTo>
                    <a:pt x="0" y="536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0"/>
              <a:ext cx="5364480" cy="555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377440" y="7431405"/>
            <a:ext cx="5120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MAVUKO JOHN-BOSCO AUGUSTIN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77440" y="8162925"/>
            <a:ext cx="512064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8F1040"/>
                </a:solidFill>
                <a:latin typeface="Calibri (MS)"/>
                <a:ea typeface="Calibri (MS)"/>
                <a:cs typeface="Calibri (MS)"/>
                <a:sym typeface="Calibri (MS)"/>
              </a:rPr>
              <a:t>Founder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12480" y="3051810"/>
            <a:ext cx="8778240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Experience in: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12480" y="3865245"/>
            <a:ext cx="8778240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Small-business activities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Bookkeeping and financial record keeping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Community engagement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Communication and customer service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Training and lifelong learning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12480" y="7623810"/>
            <a:ext cx="8778240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i="true">
                <a:solidFill>
                  <a:srgbClr val="1A1A1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Responsible for managing the business, buying stock, keeping records, serving customers, and planning growth.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59200" y="9315831"/>
            <a:ext cx="10972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8F1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DAHW364bsIY</dc:identifier>
  <dcterms:modified xsi:type="dcterms:W3CDTF">2011-08-01T06:04:30Z</dcterms:modified>
  <cp:revision>1</cp:revision>
  <dc:title>Startup food staff_PitchDeck.</dc:title>
</cp:coreProperties>
</file>